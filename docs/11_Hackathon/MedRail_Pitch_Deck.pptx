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E6E6E8"/>
                </a:solidFill>
                <a:latin typeface="Consolas"/>
              </a:rPr>
              <a:t>MedRail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59E0B"/>
                </a:solidFill>
                <a:latin typeface="Consolas"/>
              </a:rPr>
              <a:t>Clinical services an AI agent can discover, use, and pay for — no account, no API key, no permission from anyone except the patient.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6969C"/>
                </a:solidFill>
                <a:latin typeface="Consolas"/>
              </a:rPr>
              <a:t>Algorand Foundation Global x402 Challenge · Team Litchi — Aditya Arnav, Rudra Pratap, Yuvraj Singh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92040"/>
            <a:ext cx="5074920" cy="502920"/>
          </a:xfrm>
          <a:prstGeom prst="roundRect">
            <a:avLst>
              <a:gd name="adj" fmla="val 25000"/>
            </a:avLst>
          </a:prstGeom>
          <a:solidFill>
            <a:srgbClr val="18181C"/>
          </a:solidFill>
          <a:ln w="1270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89204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6E8"/>
                </a:solidFill>
                <a:latin typeface="Consolas"/>
              </a:rPr>
              <a:t>Live API: medrail.onrender.com · App: medrail-1.onrender.com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892040"/>
            <a:ext cx="5074920" cy="502920"/>
          </a:xfrm>
          <a:prstGeom prst="roundRect">
            <a:avLst>
              <a:gd name="adj" fmla="val 25000"/>
            </a:avLst>
          </a:prstGeom>
          <a:solidFill>
            <a:srgbClr val="18181C"/>
          </a:solidFill>
          <a:ln w="1270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892040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6E8"/>
                </a:solidFill>
                <a:latin typeface="Consolas"/>
              </a:rPr>
              <a:t>Consent contract: Algorand TestNet App ID 768743428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559552"/>
            <a:ext cx="5074920" cy="502920"/>
          </a:xfrm>
          <a:prstGeom prst="roundRect">
            <a:avLst>
              <a:gd name="adj" fmla="val 25000"/>
            </a:avLst>
          </a:prstGeom>
          <a:solidFill>
            <a:srgbClr val="18181C"/>
          </a:solidFill>
          <a:ln w="1270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559552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6E8"/>
                </a:solidFill>
                <a:latin typeface="Consolas"/>
              </a:rPr>
              <a:t>3 priced endpoints over x402, settled in USDC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559552"/>
            <a:ext cx="5074920" cy="502920"/>
          </a:xfrm>
          <a:prstGeom prst="roundRect">
            <a:avLst>
              <a:gd name="adj" fmla="val 25000"/>
            </a:avLst>
          </a:prstGeom>
          <a:solidFill>
            <a:srgbClr val="18181C"/>
          </a:solidFill>
          <a:ln w="1270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559552"/>
            <a:ext cx="4617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6E8"/>
                </a:solidFill>
                <a:latin typeface="Consolas"/>
              </a:rPr>
              <a:t>Payment + on-chain consent + audit append, one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6969C"/>
                </a:solidFill>
                <a:latin typeface="Consolas"/>
              </a:rPr>
              <a:t>Team Litchi — Aditya Arnav · Rudra Pratap · Yuvraj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6E6E8"/>
                </a:solidFill>
                <a:latin typeface="Consolas"/>
              </a:rPr>
              <a:t>Healthcare's front door only opens for humans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6969C"/>
                </a:solidFill>
                <a:latin typeface="Consolas"/>
              </a:rPr>
              <a:t>Agents can't pay for a single call. Patients can't grant machine-readable, revocable consent.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8686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900" b="1">
                <a:solidFill>
                  <a:srgbClr val="F59E0B"/>
                </a:solidFill>
                <a:latin typeface="Consolas"/>
              </a:rPr>
              <a:t>•  </a:t>
            </a:r>
            <a:r>
              <a:rPr sz="1900">
                <a:solidFill>
                  <a:srgbClr val="E6E6E8"/>
                </a:solidFill>
                <a:latin typeface="Consolas"/>
              </a:rPr>
              <a:t>Every clinical API wants an account, an API key, a signature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900" b="1">
                <a:solidFill>
                  <a:srgbClr val="F59E0B"/>
                </a:solidFill>
                <a:latin typeface="Consolas"/>
              </a:rPr>
              <a:t>•  </a:t>
            </a:r>
            <a:r>
              <a:rPr sz="1900">
                <a:solidFill>
                  <a:srgbClr val="E6E6E8"/>
                </a:solidFill>
                <a:latin typeface="Consolas"/>
              </a:rPr>
              <a:t>Agents hold funds but no identity — they can't buy one call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900" b="1">
                <a:solidFill>
                  <a:srgbClr val="F59E0B"/>
                </a:solidFill>
                <a:latin typeface="Consolas"/>
              </a:rPr>
              <a:t>•  </a:t>
            </a:r>
            <a:r>
              <a:rPr sz="1900">
                <a:solidFill>
                  <a:srgbClr val="E6E6E8"/>
                </a:solidFill>
                <a:latin typeface="Consolas"/>
              </a:rPr>
              <a:t>Consent is a PDF or a checkbox: not machine-readable, not revocable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900" b="1">
                <a:solidFill>
                  <a:srgbClr val="F59E0B"/>
                </a:solidFill>
                <a:latin typeface="Consolas"/>
              </a:rPr>
              <a:t>•  </a:t>
            </a:r>
            <a:r>
              <a:rPr sz="1900">
                <a:solidFill>
                  <a:srgbClr val="E6E6E8"/>
                </a:solidFill>
                <a:latin typeface="Consolas"/>
              </a:rPr>
              <a:t>Patients can't grant one named agent access, then revoke it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900" b="1">
                <a:solidFill>
                  <a:srgbClr val="F59E0B"/>
                </a:solidFill>
                <a:latin typeface="Consolas"/>
              </a:rPr>
              <a:t>•  </a:t>
            </a:r>
            <a:r>
              <a:rPr sz="1900">
                <a:solidFill>
                  <a:srgbClr val="E6E6E8"/>
                </a:solidFill>
                <a:latin typeface="Consolas"/>
              </a:rPr>
              <a:t>Access logs sit in a vendor's database that nobody can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2103120"/>
            <a:ext cx="1828800" cy="393192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1270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329184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0" b="1" i="0">
                <a:solidFill>
                  <a:srgbClr val="F59E0B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475488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6969C"/>
                </a:solidFill>
                <a:latin typeface="Consolas"/>
              </a:rPr>
              <a:t>sides of
one broken
handshake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MedRail · Team Litchi · Algorand x402 Global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6E6E8"/>
                </a:solidFill>
                <a:latin typeface="Consolas"/>
              </a:rPr>
              <a:t>Payment, Consent, and Audit — In One HTTP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6969C"/>
                </a:solidFill>
                <a:latin typeface="Consolas"/>
              </a:rPr>
              <a:t>Three priced clinical endpoints an agent can discover and pay for, with no account and no API 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550">
                <a:solidFill>
                  <a:srgbClr val="E6E6E8"/>
                </a:solidFill>
                <a:latin typeface="Consolas"/>
              </a:rPr>
              <a:t>POST /v1/triage — $0.02, x402-gated, deterministic red-flag scoring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550">
                <a:solidFill>
                  <a:srgbClr val="E6E6E8"/>
                </a:solidFill>
                <a:latin typeface="Consolas"/>
              </a:rPr>
              <a:t>POST /v1/interaction-check — $0.02, x402-gated, curated drug-interaction table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550">
                <a:solidFill>
                  <a:srgbClr val="E6E6E8"/>
                </a:solidFill>
                <a:latin typeface="Consolas"/>
              </a:rPr>
              <a:t>POST /v1/records/summary — $0.05, x402 payment PLUS on-chain patient consent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550">
                <a:solidFill>
                  <a:srgbClr val="E6E6E8"/>
                </a:solidFill>
                <a:latin typeface="Consolas"/>
              </a:rPr>
              <a:t>One paid call = settled USDC + authorization check + audit append, atomic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550">
                <a:solidFill>
                  <a:srgbClr val="E6E6E8"/>
                </a:solidFill>
                <a:latin typeface="Consolas"/>
              </a:rPr>
              <a:t>Consent lives in Algorand contract App 768743428 — the patient signs, not us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5960"/>
            <a:ext cx="5852160" cy="2857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81040" y="1940560"/>
            <a:ext cx="5902960" cy="290803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MedRail · Team Litchi · Algorand x402 Global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6E6E8"/>
                </a:solidFill>
                <a:latin typeface="Consolas"/>
              </a:rPr>
              <a:t>Not a mockup — settled on-chain, live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6969C"/>
                </a:solidFill>
                <a:latin typeface="Consolas"/>
              </a:rPr>
              <a:t>One real agent run against the deployed API, every claim checkable on a public explorer.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251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$0.02 triage + $0.02 interaction-check + $0.05 records summary = $0.09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3 settled USDC transactions on Algorand TestNet, not simulated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Sender, receiver, and MedRail are three separate keypairs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Consent verified on-chain against App ID 768743428 before records unlock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4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Honest caveat: wallets funded from our TestNet float — not external revenue</a:t>
            </a:r>
          </a:p>
        </p:txBody>
      </p:sp>
      <p:pic>
        <p:nvPicPr>
          <p:cNvPr id="6" name="Picture 5" descr="terminal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74519"/>
            <a:ext cx="6309360" cy="44165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23840" y="1849119"/>
            <a:ext cx="6360160" cy="4467351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MedRail · Team Litchi · Algorand x402 Global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E6E8"/>
                </a:solidFill>
                <a:latin typeface="Consolas"/>
              </a:rPr>
              <a:t>A $0.02 Call That Actually Costs $0.02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6969C"/>
                </a:solidFill>
                <a:latin typeface="Consolas"/>
              </a:rPr>
              <a:t>Algorand + x402 make micropayments, free authorization reads, and on-chain audit economically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332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400"/>
              </a:spcAft>
            </a:pPr>
            <a:r>
              <a:rPr sz="18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850">
                <a:solidFill>
                  <a:srgbClr val="E6E6E8"/>
                </a:solidFill>
                <a:latin typeface="Consolas"/>
              </a:rPr>
              <a:t>Facilitator sponsors network fees — the calling agent holds zero ALGO</a:t>
            </a:r>
          </a:p>
          <a:p>
            <a:pPr>
              <a:lnSpc>
                <a:spcPct val="108000"/>
              </a:lnSpc>
              <a:spcAft>
                <a:spcPts val="2400"/>
              </a:spcAft>
            </a:pPr>
            <a:r>
              <a:rPr sz="18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850">
                <a:solidFill>
                  <a:srgbClr val="E6E6E8"/>
                </a:solidFill>
                <a:latin typeface="Consolas"/>
              </a:rPr>
              <a:t>Consent check is a free algod simulate call, so authorization is free</a:t>
            </a:r>
          </a:p>
          <a:p>
            <a:pPr>
              <a:lnSpc>
                <a:spcPct val="108000"/>
              </a:lnSpc>
              <a:spcAft>
                <a:spcPts val="2400"/>
              </a:spcAft>
            </a:pPr>
            <a:r>
              <a:rPr sz="18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850">
                <a:solidFill>
                  <a:srgbClr val="E6E6E8"/>
                </a:solidFill>
                <a:latin typeface="Consolas"/>
              </a:rPr>
              <a:t>Grants and audit entries live in Algorand box storage, first-class on-chain state</a:t>
            </a:r>
          </a:p>
          <a:p>
            <a:pPr>
              <a:lnSpc>
                <a:spcPct val="108000"/>
              </a:lnSpc>
              <a:spcAft>
                <a:spcPts val="2400"/>
              </a:spcAft>
            </a:pPr>
            <a:r>
              <a:rPr sz="18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850">
                <a:solidFill>
                  <a:srgbClr val="E6E6E8"/>
                </a:solidFill>
                <a:latin typeface="Consolas"/>
              </a:rPr>
              <a:t>Deterministic rule engines, not ML — ADR-007, a safety choice against clinical hallucination</a:t>
            </a:r>
          </a:p>
          <a:p>
            <a:pPr>
              <a:lnSpc>
                <a:spcPct val="108000"/>
              </a:lnSpc>
              <a:spcAft>
                <a:spcPts val="2400"/>
              </a:spcAft>
            </a:pPr>
            <a:r>
              <a:rPr sz="1850" b="1">
                <a:solidFill>
                  <a:srgbClr val="F59E0B"/>
                </a:solidFill>
                <a:latin typeface="Consolas"/>
              </a:rPr>
              <a:t>•  </a:t>
            </a:r>
            <a:r>
              <a:rPr sz="1850">
                <a:solidFill>
                  <a:srgbClr val="E6E6E8"/>
                </a:solidFill>
                <a:latin typeface="Consolas"/>
              </a:rPr>
              <a:t>contracts/ algopy 28 tests · api/ Hono+TypeScript 93 tests · web/ Next.js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MedRail · Team Litchi · Algorand x402 Global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6E6E8"/>
                </a:solidFill>
                <a:latin typeface="Consolas"/>
              </a:rPr>
              <a:t>The rail works. The next payment should come from a stranger.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6969C"/>
                </a:solidFill>
                <a:latin typeface="Consolas"/>
              </a:rPr>
              <a:t>Everything we're not claiming yet, and exactly what we do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349240" cy="356616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2700">
            <a:solidFill>
              <a:srgbClr val="3C3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Consolas"/>
              </a:rPr>
              <a:t>KNOWN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4892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50" b="1">
                <a:solidFill>
                  <a:srgbClr val="96969C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Self-funded TestNet wallets — genuine settlement, not external revenue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50" b="1">
                <a:solidFill>
                  <a:srgbClr val="96969C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Single API instance, no metrics yet, synthetic record content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50" b="1">
                <a:solidFill>
                  <a:srgbClr val="96969C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TestNet only — App ID 768743428, MainNet not deployed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057400"/>
            <a:ext cx="5349240" cy="3566160"/>
          </a:xfrm>
          <a:prstGeom prst="roundRect">
            <a:avLst>
              <a:gd name="adj" fmla="val 4000"/>
            </a:avLst>
          </a:prstGeom>
          <a:solidFill>
            <a:srgbClr val="18181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402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EDC8C"/>
                </a:solidFill>
                <a:latin typeface="Consolas"/>
              </a:rPr>
              <a:t>WHAT'S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892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50" b="1">
                <a:solidFill>
                  <a:srgbClr val="6EDC8C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MainNet deployment of the same contract and resource server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50" b="1">
                <a:solidFill>
                  <a:srgbClr val="6EDC8C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Two rule-engine fixes — triage negation, short-string false positives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450" b="1">
                <a:solidFill>
                  <a:srgbClr val="6EDC8C"/>
                </a:solidFill>
                <a:latin typeface="Consolas"/>
              </a:rPr>
              <a:t>•  </a:t>
            </a:r>
            <a:r>
              <a:rPr sz="1450">
                <a:solidFill>
                  <a:srgbClr val="E6E6E8"/>
                </a:solidFill>
                <a:latin typeface="Consolas"/>
              </a:rPr>
              <a:t>A stranger's agent finds us on Bazaar and pays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MedRail · Team Litchi · Algorand x402 Global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6969C"/>
                </a:solidFill>
                <a:latin typeface="Consolas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